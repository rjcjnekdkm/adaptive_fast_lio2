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3333095" cy="7499985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这一页是当前模块流程图。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最左边的 h_share_model 是系统前一步，它已经完成 scan-to-map 匹配，并提供点到面残差、法向量、有效点数量、Jacobian 条件数等信息。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上次已经讲过，我们基于这些信息做单点质量评价和单帧退化判断。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本次新增的是中间蓝色的滑动窗口：它把当前帧的退化结果和统计量放进最近一段时间的窗口里，判断是不是持续退化。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窗口输出的是退化模式，例如 Normal、Transient、Persistent。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最后真正执行地图更新控制的是 allow_map_insert_point，它决定点是否进入 point_to_add，然后由 p_map-&gt;Add_Points 写入 ikd-tree。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这一页讲滑动窗口的逻辑。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图中每个格子代表一帧，N 是正常帧，D 是这一帧被单帧逻辑判断为退化。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窗口只保存最近一段时间的帧，新帧从右边进入，最旧帧从左边移出。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窗口不是直接吃原始点云，而是吃 is_current_frame_degenerate 的结果，以及 h_share_model 后得到的统计量。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判断持续退化时，不只看窗口里退化帧多不多，还会看最近是否连续退化、机器人是否在持续前进、yaw 变化是否小、法向覆盖是否长期集中、残差是否稳定、条件数是否偏大。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直观理解就是：如果机器人在长走廊里一直往前走，视角变化不大，同时几何约束方向长期单一，那么这比单帧退化更可信，可以认为是持续退化候选。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但它不会一帧就切换模式，而是通过进入和退出计数做滞回，避免模式来回抖动。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这一页先讲本次新增的状态转换机制。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上次汇报里，模块主要是点级质量评价和单帧退化判断；这次新增的是把单帧结果放进滑动窗口，进一步区分短时退化和持续退化。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这里有三个状态：Normal 表示当前没有明显退化，地图更新基本按普通逻辑执行；Transient 表示当前帧退化，但还不能说明场景一直退化，所以只做相对轻的收紧；Persistent 表示窗口连续确认退化趋势，认为当前更像长走廊或隧道这种持续弱约束环境。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需要强调的是，状态切换不是一帧触发。一帧退化只会先进入 Transient，只有窗口连续确认后才进入 Persistent；退出也不是一帧恢复就退出，而是连续恢复后再回到普通状态。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这样做的目的，是避免因为单帧噪声或者短时拐角导致地图更新策略频繁抖动。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这一页讲判定为持续退化之后到底怎么做。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首先要强调，Persistent 不改变 ESIKF 滤波器，也不是停止建图。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它的作用是在地图更新阶段更保守，也就是控制哪些点可以进入 ikd-tree。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第一步是候选点排序。普通退化时主要看质量分数；Persistent 时优先保留对弱约束方向贡献更大的点，其次再看质量分数。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第二步是收紧 novel points 的配额。novel points 是地图未知区域的新点，完全拒绝会导致地图不能向前生长，但全部接受又容易把不确定点写进去，所以 Persistent 下只允许更少的新点进入。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第三步是收紧法向方向配额。长走廊里很多点来自同一类墙面或地面，方向高度重复，继续大量写入对缺失自由度帮助不大，反而可能强化错误约束。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最终所有这些限制都在 allow_map_insert_point 里执行，允许的点才会进入 Add_Points 更新地图。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这一页是实验图像对比。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上面三张是实际建图结果，从左到右分别是 FAST-LIO、LIO-SAM 和 Ours。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FAST-LIO 在这个长走廊数据上漂移比较明显，能看到地图结构有重影和偏移。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LIO-SAM 整体比 FAST-LIO 稳定，但在结构连续性和细节上没有我们的结果完整。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Ours 的主走廊结构和右侧转弯段更连续，说明在长时间弱约束环境里，地图更新没有被错误点持续带偏。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下面保留原来的 evo 轨迹对比图，它用于从轨迹层面验证这个现象。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所以这一页想表达的是：地图形态上和轨迹误差上，滑动窗口后的版本都更稳定。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>
            <p:ph type="body" idx="1"/>
          </p:nvPr>
        </p:nvSpPr>
        <p:spPr>
          <a:xfrm>
            <a:off x="685800" y="685800"/>
            <a:ext cx="5486400" cy="7543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最后是定量结果。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这里用 evo 的 APE/ATE 和 10m RPE 进行对比，表格用论文常见的三线表形式。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ATE 反映全局轨迹误差，RPE 10m 反映局部十米尺度的相对运动误差。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从结果看，Adaptive FAST-LIO2 的 ATE RMSE 是 1.431 米，低于 LIO-SAM 的 1.730 米，也明显低于 FAST-LIO 的 18.144 米。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RPE 10m 上也是 Adaptive 最低，为 0.253 米，说明不仅全局不容易漂，局部运动一致性也更好。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结合前面的地图图像，可以说明滑动窗口持续退化判断和更保守的地图写入策略，对长走廊这种退化场景是有效的。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4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后续可以继续做的是：在更多长走廊、隧道和转角场景上验证，并进一步分析 Persistent 触发时刻与误差变化的对应关系。</a:t>
            </a:r>
            <a:endParaRPr lang="zh-CN" sz="14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 当前模块流程图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相对上次：在单帧退化判断之后，新增时间窗口判断持续退化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Box 20"/>
          <p:cNvSpPr/>
          <p:nvPr/>
        </p:nvSpPr>
        <p:spPr>
          <a:xfrm>
            <a:off x="594360" y="1234440"/>
            <a:ext cx="2057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h_share_model()
残差/法向/有效点</a:t>
            </a:r>
            <a:endParaRPr lang="zh-CN" sz="15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>
            <a:off x="2651760" y="1645920"/>
            <a:ext cx="5029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2" name="Box 22"/>
          <p:cNvSpPr/>
          <p:nvPr/>
        </p:nvSpPr>
        <p:spPr>
          <a:xfrm>
            <a:off x="3154680" y="1234440"/>
            <a:ext cx="196596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单帧退化判断
frame_degenerate</a:t>
            </a:r>
            <a:endParaRPr lang="zh-CN" sz="15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>
            <a:off x="5120640" y="1645920"/>
            <a:ext cx="5029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4" name="Box 24"/>
          <p:cNvSpPr/>
          <p:nvPr/>
        </p:nvSpPr>
        <p:spPr>
          <a:xfrm>
            <a:off x="5623560" y="1078992"/>
            <a:ext cx="2240280" cy="113385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0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新增
滑动窗口</a:t>
            </a:r>
            <a:endParaRPr lang="zh-CN" sz="20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>
            <a:off x="7863840" y="1645920"/>
            <a:ext cx="5029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6" name="Box 26"/>
          <p:cNvSpPr/>
          <p:nvPr/>
        </p:nvSpPr>
        <p:spPr>
          <a:xfrm>
            <a:off x="8366760" y="1234440"/>
            <a:ext cx="14173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818CF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退化模式
Mode</a:t>
            </a:r>
            <a:endParaRPr lang="zh-CN" sz="15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>
            <a:off x="9784080" y="1645920"/>
            <a:ext cx="5029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8" name="Box 28"/>
          <p:cNvSpPr/>
          <p:nvPr/>
        </p:nvSpPr>
        <p:spPr>
          <a:xfrm>
            <a:off x="10287000" y="1234440"/>
            <a:ext cx="132588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入图控制</a:t>
            </a:r>
            <a:endParaRPr lang="zh-CN" sz="15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Box 29"/>
          <p:cNvSpPr/>
          <p:nvPr/>
        </p:nvSpPr>
        <p:spPr>
          <a:xfrm>
            <a:off x="822960" y="274320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上次已有
点级质量评价 + 帧级退化判断</a:t>
            </a:r>
            <a:endParaRPr lang="zh-CN" sz="18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Box 30"/>
          <p:cNvSpPr/>
          <p:nvPr/>
        </p:nvSpPr>
        <p:spPr>
          <a:xfrm>
            <a:off x="4526280" y="2606040"/>
            <a:ext cx="315468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本次更新
由“当前帧是否退化”扩展到
“一段时间是否持续退化”</a:t>
            </a:r>
            <a:endParaRPr lang="zh-CN" sz="18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Box 31"/>
          <p:cNvSpPr/>
          <p:nvPr/>
        </p:nvSpPr>
        <p:spPr>
          <a:xfrm>
            <a:off x="8229600" y="2743200"/>
            <a:ext cx="3108960" cy="1143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最终作用
allow_map_insert_point()
控制 ikd-tree 地图更新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"/>
          <p:cNvSpPr txBox="1"/>
          <p:nvPr/>
        </p:nvSpPr>
        <p:spPr>
          <a:xfrm>
            <a:off x="868680" y="470916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8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一句话：h_share_model 提供观测质量，滑动窗口判断持续退化状态，地图插入函数根据状态选择更保守的入图策略。</a:t>
            </a:r>
            <a:endParaRPr lang="zh-CN" sz="18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2. 滑动窗口本身如何判断持续退化？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窗口用于把单帧退化提升为时间段退化，而不是再次做点云质量过滤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Sliding window 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835640" cy="1600200"/>
          </a:xfrm>
          <a:prstGeom prst="rect">
            <a:avLst/>
          </a:prstGeom>
        </p:spPr>
      </p:pic>
      <p:sp>
        <p:nvSpPr>
          <p:cNvPr id="21" name="TextBox"/>
          <p:cNvSpPr txBox="1"/>
          <p:nvPr/>
        </p:nvSpPr>
        <p:spPr>
          <a:xfrm>
            <a:off x="777240" y="2999232"/>
            <a:ext cx="5074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图中每个格子表示一帧：N 为正常帧，D 为单帧退化结果。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滑动窗口只保存最近一段时间；新帧从右侧进入，最旧帧从左侧移出。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窗口输入来自 is_current_frame_degenerate() 和当前帧统计量，不直接读取原始点云。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6217920" y="2999232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当窗口内多数帧退化，且最近几帧连续退化，同时机器人仍在直行前进，就认为更像长走廊/隧道式持续退化。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这时先进入持续退化候选；只有连续多次确认后，状态才从 Transient 升级为 Persistent。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Box 23"/>
          <p:cNvSpPr/>
          <p:nvPr/>
        </p:nvSpPr>
        <p:spPr>
          <a:xfrm>
            <a:off x="914400" y="5257800"/>
            <a:ext cx="10287000" cy="6217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关键点：滑动窗口负责判断“场景状态”，真正的点是否入图仍由 allow_map_insert_point() 执行。</a:t>
            </a:r>
            <a:endParaRPr lang="zh-CN" sz="1700" b="0" dirty="0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3. 退化状态转换机制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由单帧退化判断扩展为 Normal / Transient / Persistent 状态机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Box 20"/>
          <p:cNvSpPr/>
          <p:nvPr/>
        </p:nvSpPr>
        <p:spPr>
          <a:xfrm>
            <a:off x="731520" y="1417320"/>
            <a:ext cx="25146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Normal
正常模式</a:t>
            </a:r>
            <a:endParaRPr lang="zh-CN" sz="18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Box 21"/>
          <p:cNvSpPr/>
          <p:nvPr/>
        </p:nvSpPr>
        <p:spPr>
          <a:xfrm>
            <a:off x="4800600" y="1417320"/>
            <a:ext cx="251460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Transient
短时退化</a:t>
            </a:r>
            <a:endParaRPr lang="zh-CN" sz="18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ox 22"/>
          <p:cNvSpPr/>
          <p:nvPr/>
        </p:nvSpPr>
        <p:spPr>
          <a:xfrm>
            <a:off x="8869680" y="1417320"/>
            <a:ext cx="25146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Persistent
持续退化</a:t>
            </a:r>
            <a:endParaRPr lang="zh-CN" sz="18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>
            <a:off x="3246120" y="1847088"/>
            <a:ext cx="155448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cxnSp>
        <p:nvCxnSpPr>
          <p:cNvPr id="24" name="Connector 24"/>
          <p:cNvCxnSpPr/>
          <p:nvPr/>
        </p:nvCxnSpPr>
        <p:spPr>
          <a:xfrm>
            <a:off x="7315200" y="1847088"/>
            <a:ext cx="155448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7" name="TextBox"/>
          <p:cNvSpPr txBox="1"/>
          <p:nvPr/>
        </p:nvSpPr>
        <p:spPr>
          <a:xfrm>
            <a:off x="868680" y="3063240"/>
            <a:ext cx="30175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当前帧未表现出退化风险。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地图点按普通体素冗余逻辑和基础质量门控入图。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"/>
          <p:cNvSpPr txBox="1"/>
          <p:nvPr/>
        </p:nvSpPr>
        <p:spPr>
          <a:xfrm>
            <a:off x="4526280" y="3063240"/>
            <a:ext cx="3246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当前帧被判定为退化，但窗口还没有确认持续退化。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开始采用更谨慎的候选点处理，避免单帧噪声直接触发强限制。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"/>
          <p:cNvSpPr txBox="1"/>
          <p:nvPr/>
        </p:nvSpPr>
        <p:spPr>
          <a:xfrm>
            <a:off x="8229600" y="3063240"/>
            <a:ext cx="3246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滑动窗口连续确认退化趋势后进入。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地图更新进入更保守策略：候选点排序、novel 配额收紧、法向方向配额收紧。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Box 30"/>
          <p:cNvSpPr/>
          <p:nvPr/>
        </p:nvSpPr>
        <p:spPr>
          <a:xfrm>
            <a:off x="914400" y="5257800"/>
            <a:ext cx="102870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状态切换不是一帧触发：进入 Persistent 需要连续确认；退出也需要连续恢复，用滞回避免模式抖动。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4. 判定为持续退化后的</a:t>
            </a: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Persistent 不改变滤波器，而是让地图更新更保守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Box 20"/>
          <p:cNvSpPr/>
          <p:nvPr/>
        </p:nvSpPr>
        <p:spPr>
          <a:xfrm>
            <a:off x="640080" y="1143000"/>
            <a:ext cx="214884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窗口确认
Persistent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>
            <a:off x="2788920" y="1481328"/>
            <a:ext cx="5486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2" name="Box 22"/>
          <p:cNvSpPr/>
          <p:nvPr/>
        </p:nvSpPr>
        <p:spPr>
          <a:xfrm>
            <a:off x="3337560" y="1143000"/>
            <a:ext cx="22402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818CF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候选点排序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>
            <a:off x="5577840" y="1481328"/>
            <a:ext cx="5486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4" name="Box 24"/>
          <p:cNvSpPr/>
          <p:nvPr/>
        </p:nvSpPr>
        <p:spPr>
          <a:xfrm>
            <a:off x="6126480" y="1143000"/>
            <a:ext cx="224028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收紧入图配额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>
            <a:off x="8366760" y="1481328"/>
            <a:ext cx="5486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</p:cxnSp>
      <p:sp>
        <p:nvSpPr>
          <p:cNvPr id="26" name="Box 26"/>
          <p:cNvSpPr/>
          <p:nvPr/>
        </p:nvSpPr>
        <p:spPr>
          <a:xfrm>
            <a:off x="8915400" y="1143000"/>
            <a:ext cx="2240280" cy="685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更新 ikd-tree</a:t>
            </a:r>
            <a:endParaRPr lang="zh-CN" sz="1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"/>
          <p:cNvSpPr txBox="1"/>
          <p:nvPr/>
        </p:nvSpPr>
        <p:spPr>
          <a:xfrm>
            <a:off x="777240" y="2331720"/>
            <a:ext cx="310896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滑动窗口只输出退化模式。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当模式为 Persistent，说明当前不是偶然退化，而是长时间处于走廊/隧道式弱约束环境。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"/>
          <p:cNvSpPr txBox="1"/>
          <p:nvPr/>
        </p:nvSpPr>
        <p:spPr>
          <a:xfrm>
            <a:off x="4160520" y="2331720"/>
            <a:ext cx="32461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候选点不再只按普通顺序处理。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Persistent 下优先保留对弱约束方向贡献更大的点，其次看质量分数。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"/>
          <p:cNvSpPr txBox="1"/>
          <p:nvPr/>
        </p:nvSpPr>
        <p:spPr>
          <a:xfrm>
            <a:off x="7726679" y="2331720"/>
            <a:ext cx="342900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novel points 配额减小：允许地图继续生长，但降低不确定新点写入速度。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7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法向方向配额减小：限制同一墙面/地面方向的重复点大量入图。</a:t>
            </a:r>
            <a:endParaRPr lang="zh-CN" sz="17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Box 30"/>
          <p:cNvSpPr/>
          <p:nvPr/>
        </p:nvSpPr>
        <p:spPr>
          <a:xfrm>
            <a:off x="868680" y="5074920"/>
            <a:ext cx="10469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最终执行位置：allow_map_insert_point() 决定每个点是否允许进入 point_to_add / point_no_need_downsample，随后由 p_map-&gt;Add_Points() 写入 ikd-tree。</a:t>
            </a:r>
            <a:endParaRPr lang="zh-CN" sz="16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5. 实验图像对比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地图结果图 + 原轨迹对比图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Box 20"/>
          <p:cNvSpPr/>
          <p:nvPr/>
        </p:nvSpPr>
        <p:spPr>
          <a:xfrm>
            <a:off x="411480" y="1060704"/>
            <a:ext cx="2880360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FAST-LIO</a:t>
            </a:r>
            <a:endParaRPr lang="zh-CN" sz="14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Box 21"/>
          <p:cNvSpPr/>
          <p:nvPr/>
        </p:nvSpPr>
        <p:spPr>
          <a:xfrm>
            <a:off x="3520440" y="1060704"/>
            <a:ext cx="2880360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LIO-SAM</a:t>
            </a:r>
            <a:endParaRPr lang="zh-CN" sz="14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ox 22"/>
          <p:cNvSpPr/>
          <p:nvPr/>
        </p:nvSpPr>
        <p:spPr>
          <a:xfrm>
            <a:off x="6629400" y="1060704"/>
            <a:ext cx="28803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Ours</a:t>
            </a:r>
            <a:endParaRPr lang="zh-CN" sz="14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FAST-LIO 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2880360" cy="1965960"/>
          </a:xfrm>
          <a:prstGeom prst="rect">
            <a:avLst/>
          </a:prstGeom>
        </p:spPr>
      </p:pic>
      <p:pic>
        <p:nvPicPr>
          <p:cNvPr id="24" name="LIO-SAM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44752"/>
            <a:ext cx="2880360" cy="1965960"/>
          </a:xfrm>
          <a:prstGeom prst="rect">
            <a:avLst/>
          </a:prstGeom>
        </p:spPr>
      </p:pic>
      <p:pic>
        <p:nvPicPr>
          <p:cNvPr id="25" name="Ours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44752"/>
            <a:ext cx="2880360" cy="1965960"/>
          </a:xfrm>
          <a:prstGeom prst="rect">
            <a:avLst/>
          </a:prstGeom>
        </p:spPr>
      </p:pic>
      <p:sp>
        <p:nvSpPr>
          <p:cNvPr id="26" name="TextBox"/>
          <p:cNvSpPr txBox="1"/>
          <p:nvPr/>
        </p:nvSpPr>
        <p:spPr>
          <a:xfrm>
            <a:off x="9738360" y="1325880"/>
            <a:ext cx="196596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5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FAST-LIO 漂移明显；LIO-SAM 较稳定；Ours 主走廊与转弯段更连续。</a:t>
            </a:r>
            <a:endParaRPr lang="zh-CN" sz="15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Trajectory compari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4760"/>
            <a:ext cx="5120640" cy="1874519"/>
          </a:xfrm>
          <a:prstGeom prst="rect">
            <a:avLst/>
          </a:prstGeom>
        </p:spPr>
      </p:pic>
      <p:sp>
        <p:nvSpPr>
          <p:cNvPr id="28" name="TextBox"/>
          <p:cNvSpPr txBox="1"/>
          <p:nvPr/>
        </p:nvSpPr>
        <p:spPr>
          <a:xfrm>
            <a:off x="6217920" y="3977639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6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轨迹对比图保留原 evo 结果：用于说明全局轨迹误差；地图结果图用于直观展示建图稳定性。</a:t>
            </a:r>
            <a:endParaRPr lang="zh-CN" sz="16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27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6. 定量结果与结论</a:t>
            </a:r>
            <a:endParaRPr lang="zh-CN" sz="27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 line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530352" y="88696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zh-CN" sz="13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采用论文常用三线表形式展示 ATE 与 10m RPE</a:t>
            </a:r>
            <a:endParaRPr lang="zh-CN" sz="130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HLine 20"/>
          <p:cNvSpPr/>
          <p:nvPr/>
        </p:nvSpPr>
        <p:spPr>
          <a:xfrm>
            <a:off x="960120" y="1417320"/>
            <a:ext cx="10241280" cy="0"/>
          </a:xfrm>
          <a:prstGeom prst="line">
            <a:avLst/>
          </a:prstGeom>
          <a:ln w="254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1" name="Cell 21"/>
          <p:cNvSpPr txBox="1"/>
          <p:nvPr/>
        </p:nvSpPr>
        <p:spPr>
          <a:xfrm>
            <a:off x="1005840" y="1517904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  <a:endParaRPr lang="zh-CN" sz="16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Cell 22"/>
          <p:cNvSpPr txBox="1"/>
          <p:nvPr/>
        </p:nvSpPr>
        <p:spPr>
          <a:xfrm>
            <a:off x="3474720" y="15179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ATE RMSE ↓</a:t>
            </a:r>
            <a:endParaRPr lang="zh-CN" sz="16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Cell 23"/>
          <p:cNvSpPr txBox="1"/>
          <p:nvPr/>
        </p:nvSpPr>
        <p:spPr>
          <a:xfrm>
            <a:off x="5394960" y="15179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ATE Mean ↓</a:t>
            </a:r>
            <a:endParaRPr lang="zh-CN" sz="16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Cell 24"/>
          <p:cNvSpPr txBox="1"/>
          <p:nvPr/>
        </p:nvSpPr>
        <p:spPr>
          <a:xfrm>
            <a:off x="7315200" y="15179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RPE 10m RMSE ↓</a:t>
            </a:r>
            <a:endParaRPr lang="zh-CN" sz="16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Cell 25"/>
          <p:cNvSpPr txBox="1"/>
          <p:nvPr/>
        </p:nvSpPr>
        <p:spPr>
          <a:xfrm>
            <a:off x="9235440" y="15179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RPE 10m Mean ↓</a:t>
            </a:r>
            <a:endParaRPr lang="zh-CN" sz="1600" b="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HLine 26"/>
          <p:cNvSpPr/>
          <p:nvPr/>
        </p:nvSpPr>
        <p:spPr>
          <a:xfrm>
            <a:off x="960120" y="2029968"/>
            <a:ext cx="10241280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7" name="Cell 27"/>
          <p:cNvSpPr txBox="1"/>
          <p:nvPr/>
        </p:nvSpPr>
        <p:spPr>
          <a:xfrm>
            <a:off x="1005840" y="221284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0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rPr>
              <a:t>Adaptive FAST-LIO2</a:t>
            </a:r>
            <a:endParaRPr lang="zh-CN" sz="1500" b="0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Cell 28"/>
          <p:cNvSpPr txBox="1"/>
          <p:nvPr/>
        </p:nvSpPr>
        <p:spPr>
          <a:xfrm>
            <a:off x="3474720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0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rPr>
              <a:t>1.431 m</a:t>
            </a:r>
            <a:endParaRPr lang="zh-CN" sz="1500" b="0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Cell 29"/>
          <p:cNvSpPr txBox="1"/>
          <p:nvPr/>
        </p:nvSpPr>
        <p:spPr>
          <a:xfrm>
            <a:off x="5394960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0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rPr>
              <a:t>1.181 m</a:t>
            </a:r>
            <a:endParaRPr lang="zh-CN" sz="1500" b="0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ell 30"/>
          <p:cNvSpPr txBox="1"/>
          <p:nvPr/>
        </p:nvSpPr>
        <p:spPr>
          <a:xfrm>
            <a:off x="7315200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0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rPr>
              <a:t>0.253 m</a:t>
            </a:r>
            <a:endParaRPr lang="zh-CN" sz="1500" b="0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Cell 31"/>
          <p:cNvSpPr txBox="1"/>
          <p:nvPr/>
        </p:nvSpPr>
        <p:spPr>
          <a:xfrm>
            <a:off x="9235440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0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rPr>
              <a:t>0.188 m</a:t>
            </a:r>
            <a:endParaRPr lang="zh-CN" sz="1500" b="0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ell 32"/>
          <p:cNvSpPr txBox="1"/>
          <p:nvPr/>
        </p:nvSpPr>
        <p:spPr>
          <a:xfrm>
            <a:off x="1005840" y="27889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FAST-LIO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ell 33"/>
          <p:cNvSpPr txBox="1"/>
          <p:nvPr/>
        </p:nvSpPr>
        <p:spPr>
          <a:xfrm>
            <a:off x="347472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18.144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Cell 34"/>
          <p:cNvSpPr txBox="1"/>
          <p:nvPr/>
        </p:nvSpPr>
        <p:spPr>
          <a:xfrm>
            <a:off x="539496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14.561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Cell 35"/>
          <p:cNvSpPr txBox="1"/>
          <p:nvPr/>
        </p:nvSpPr>
        <p:spPr>
          <a:xfrm>
            <a:off x="731520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0.619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ell 36"/>
          <p:cNvSpPr txBox="1"/>
          <p:nvPr/>
        </p:nvSpPr>
        <p:spPr>
          <a:xfrm>
            <a:off x="923544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0.429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Cell 37"/>
          <p:cNvSpPr txBox="1"/>
          <p:nvPr/>
        </p:nvSpPr>
        <p:spPr>
          <a:xfrm>
            <a:off x="1005840" y="336499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LIO-SAM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Cell 38"/>
          <p:cNvSpPr txBox="1"/>
          <p:nvPr/>
        </p:nvSpPr>
        <p:spPr>
          <a:xfrm>
            <a:off x="3474720" y="336499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1.730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Cell 39"/>
          <p:cNvSpPr txBox="1"/>
          <p:nvPr/>
        </p:nvSpPr>
        <p:spPr>
          <a:xfrm>
            <a:off x="5394960" y="336499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1.546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ell 40"/>
          <p:cNvSpPr txBox="1"/>
          <p:nvPr/>
        </p:nvSpPr>
        <p:spPr>
          <a:xfrm>
            <a:off x="7315200" y="336499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0.305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Cell 41"/>
          <p:cNvSpPr txBox="1"/>
          <p:nvPr/>
        </p:nvSpPr>
        <p:spPr>
          <a:xfrm>
            <a:off x="9235440" y="336499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0.249 m</a:t>
            </a:r>
            <a:endParaRPr lang="zh-CN" sz="15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HLine 42"/>
          <p:cNvSpPr/>
          <p:nvPr/>
        </p:nvSpPr>
        <p:spPr>
          <a:xfrm>
            <a:off x="960120" y="3977639"/>
            <a:ext cx="10241280" cy="0"/>
          </a:xfrm>
          <a:prstGeom prst="line">
            <a:avLst/>
          </a:prstGeom>
          <a:ln w="254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1051560" y="4389120"/>
            <a:ext cx="10058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164465" indent="-109855">
              <a:buChar char="•"/>
            </a:pPr>
            <a:r>
              <a:rPr lang="zh-CN" sz="18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结果说明：Adaptive FAST-LIO2 在全局 ATE 与局部 10m RPE 上均取得最小误差。</a:t>
            </a:r>
            <a:endParaRPr lang="zh-CN" sz="18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4465" indent="-109855">
              <a:buChar char="•"/>
            </a:pPr>
            <a:r>
              <a:rPr lang="zh-CN" sz="18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原因分析：持续退化时，模块限制低价值或重复方向点进入地图，减少错误地图更新对后续匹配的牵引。</a:t>
            </a:r>
            <a:endParaRPr lang="zh-CN" sz="18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Simple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/>
  <Paragraphs>140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Simple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低吟%丿灬浅唱</cp:lastModifiedBy>
  <cp:revision>1</cp:revision>
  <dcterms:created xsi:type="dcterms:W3CDTF">2026-06-27T16:57:08Z</dcterms:created>
  <dcterms:modified xsi:type="dcterms:W3CDTF">2026-06-27T16:57:08Z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E1F5572CCA7444F491C0DA58396280F9_12</vt:lpwstr>
  </property>
  <property fmtid="{D5CDD505-2E9C-101B-9397-08002B2CF9AE}" pid="3" name="KSOProductBuildVer">
    <vt:lpwstr>2052-12.1.0.26895</vt:lpwstr>
  </property>
</Properties>
</file>