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C365C"/>
                </a:solidFill>
                <a:latin typeface="Microsoft YaHei"/>
              </a:rPr>
              <a:t>退化感知的 FAST-LIO2 地图增量更新模块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27432"/>
          </a:xfrm>
          <a:prstGeom prst="rect">
            <a:avLst/>
          </a:prstGeom>
          <a:solidFill>
            <a:srgbClr val="248BC2"/>
          </a:solidFill>
          <a:ln>
            <a:solidFill>
              <a:srgbClr val="248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5F5F"/>
                </a:solidFill>
                <a:latin typeface="Microsoft YaHei"/>
              </a:rPr>
              <a:t>重点：adaptive_map 模块设计与 M3DGR Corridor02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研究对象：FAST-LIO2 中当前帧点云插入 ikd-Tree 地图之前的 map_incremental() 阶段。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核心问题：原始入图逻辑主要考虑体素冗余，缺少对残差异常、几何退化和重复方向点的判断。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本文模块：利用 h_share_model() 已有的点到面残差 $r_i$、有效匹配点数量 $N_{eff}$ 和平面法向量 $\mathbf{n}_i$，对候选入图点进行质量筛选。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目标：在走廊等退化环境中减少低质量地图点累积，提高后续 scan-to-map 匹配可靠性。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C365C"/>
                </a:solidFill>
                <a:latin typeface="Microsoft YaHei"/>
              </a:rPr>
              <a:t>模块实现流程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27432"/>
          </a:xfrm>
          <a:prstGeom prst="rect">
            <a:avLst/>
          </a:prstGeom>
          <a:solidFill>
            <a:srgbClr val="248BC2"/>
          </a:solidFill>
          <a:ln>
            <a:solidFill>
              <a:srgbClr val="248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5F5F"/>
                </a:solidFill>
                <a:latin typeface="Microsoft YaHei"/>
              </a:rPr>
              <a:t>从观测模型中提取质量信息，在地图更新前执行筛选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429000" cy="406908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35607"/>
            <a:ext cx="31546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2D2D"/>
                </a:solidFill>
                <a:latin typeface="Consolas"/>
              </a:rPr>
              <a:t>1. h_share_model()</a:t>
            </a:r>
            <a:br/>
            <a:br/>
            <a:r>
              <a:rPr sz="1500" b="0">
                <a:solidFill>
                  <a:srgbClr val="2D2D2D"/>
                </a:solidFill>
                <a:latin typeface="Consolas"/>
              </a:rPr>
              <a:t>输入: 当前帧降采样点 + ikd-Tree 局部地图</a:t>
            </a:r>
            <a:br/>
            <a:br/>
            <a:r>
              <a:rPr sz="1500" b="0">
                <a:solidFill>
                  <a:srgbClr val="2D2D2D"/>
                </a:solidFill>
                <a:latin typeface="Consolas"/>
              </a:rPr>
              <a:t>提取质量信息: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点到面残差 $|r_i|$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平面法向量 $\mathbf{n}_i$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质量分数 $s_i$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有效匹配点数量 $N_{eff}$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25880"/>
            <a:ext cx="3429000" cy="406908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35607"/>
            <a:ext cx="31546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2D2D"/>
                </a:solidFill>
                <a:latin typeface="Consolas"/>
              </a:rPr>
              <a:t>2. adaptive_map 判断</a:t>
            </a:r>
            <a:br/>
            <a:br/>
            <a:r>
              <a:rPr sz="1500" b="0">
                <a:solidFill>
                  <a:srgbClr val="2D2D2D"/>
                </a:solidFill>
                <a:latin typeface="Consolas"/>
              </a:rPr>
              <a:t>帧级指标: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平均残差 $\bar r$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残差中位数 $\tilde r$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MAD 鲁棒统计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法向量退化指标 $\rho_n$</a:t>
            </a:r>
            <a:br/>
            <a:br/>
            <a:r>
              <a:rPr sz="1500" b="0">
                <a:solidFill>
                  <a:srgbClr val="2D2D2D"/>
                </a:solidFill>
                <a:latin typeface="Consolas"/>
              </a:rPr>
              <a:t>作用: 判断当前帧是否存在退化风险。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25880"/>
            <a:ext cx="3429000" cy="406908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35607"/>
            <a:ext cx="31546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D2D2D"/>
                </a:solidFill>
                <a:latin typeface="Consolas"/>
              </a:rPr>
              <a:t>3. map_incremental()</a:t>
            </a:r>
            <a:br/>
            <a:br/>
            <a:r>
              <a:rPr sz="1500" b="0">
                <a:solidFill>
                  <a:srgbClr val="2D2D2D"/>
                </a:solidFill>
                <a:latin typeface="Consolas"/>
              </a:rPr>
              <a:t>在插入 ikd-Tree 前执行: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拒绝残差异常点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拒绝低质量分数点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限制退化方向重复点</a:t>
            </a:r>
            <a:br/>
            <a:r>
              <a:rPr sz="1500" b="0">
                <a:solidFill>
                  <a:srgbClr val="2D2D2D"/>
                </a:solidFill>
                <a:latin typeface="Consolas"/>
              </a:rPr>
              <a:t>- 少量放行新区域点</a:t>
            </a:r>
            <a:br/>
            <a:br/>
            <a:r>
              <a:rPr sz="1500" b="0">
                <a:solidFill>
                  <a:srgbClr val="2D2D2D"/>
                </a:solidFill>
                <a:latin typeface="Consolas"/>
              </a:rPr>
              <a:t>关闭 adaptive_map 时回到原始逻辑。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C365C"/>
                </a:solidFill>
                <a:latin typeface="Microsoft YaHei"/>
              </a:rPr>
              <a:t>核心筛选逻辑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27432"/>
          </a:xfrm>
          <a:prstGeom prst="rect">
            <a:avLst/>
          </a:prstGeom>
          <a:solidFill>
            <a:srgbClr val="248BC2"/>
          </a:solidFill>
          <a:ln>
            <a:solidFill>
              <a:srgbClr val="248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5F5F"/>
                </a:solidFill>
                <a:latin typeface="Microsoft YaHei"/>
              </a:rPr>
              <a:t>单点质量评价 + 帧级退化判断 + 法向量方向约束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07008"/>
            <a:ext cx="5257800" cy="205740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280160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C365C"/>
                </a:solidFill>
                <a:latin typeface="Microsoft YaHei"/>
              </a:rPr>
              <a:t>单点质量评价</a:t>
            </a:r>
          </a:p>
        </p:txBody>
      </p:sp>
      <p:pic>
        <p:nvPicPr>
          <p:cNvPr id="7" name="Picture 6" descr="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37360"/>
            <a:ext cx="3154680" cy="457200"/>
          </a:xfrm>
          <a:prstGeom prst="rect">
            <a:avLst/>
          </a:prstGeom>
        </p:spPr>
      </p:pic>
      <p:pic>
        <p:nvPicPr>
          <p:cNvPr id="8" name="Picture 7" descr="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359152"/>
            <a:ext cx="324612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1207008"/>
            <a:ext cx="5257800" cy="205740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5" y="1280160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C365C"/>
                </a:solidFill>
                <a:latin typeface="Microsoft YaHei"/>
              </a:rPr>
              <a:t>自适应残差阈值</a:t>
            </a:r>
          </a:p>
        </p:txBody>
      </p:sp>
      <p:pic>
        <p:nvPicPr>
          <p:cNvPr id="11" name="Picture 10" descr="residual_li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1737360"/>
            <a:ext cx="4572000" cy="713232"/>
          </a:xfrm>
          <a:prstGeom prst="rect">
            <a:avLst/>
          </a:prstGeom>
        </p:spPr>
      </p:pic>
      <p:pic>
        <p:nvPicPr>
          <p:cNvPr id="12" name="Picture 11" descr="m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2615184"/>
            <a:ext cx="2651760" cy="4114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85800" y="3703320"/>
            <a:ext cx="5257800" cy="205740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776472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C365C"/>
                </a:solidFill>
                <a:latin typeface="Microsoft YaHei"/>
              </a:rPr>
              <a:t>帧级退化判断</a:t>
            </a:r>
          </a:p>
        </p:txBody>
      </p:sp>
      <p:pic>
        <p:nvPicPr>
          <p:cNvPr id="15" name="Picture 14" descr="normal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4233672"/>
            <a:ext cx="3063240" cy="502920"/>
          </a:xfrm>
          <a:prstGeom prst="rect">
            <a:avLst/>
          </a:prstGeom>
        </p:spPr>
      </p:pic>
      <p:pic>
        <p:nvPicPr>
          <p:cNvPr id="16" name="Picture 15" descr="normal_rati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4901183"/>
            <a:ext cx="2697480" cy="5029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63640" y="3703320"/>
            <a:ext cx="5257800" cy="205740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3776472"/>
            <a:ext cx="50017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C365C"/>
                </a:solidFill>
                <a:latin typeface="Microsoft YaHei"/>
              </a:rPr>
              <a:t>最终入图拒绝条件</a:t>
            </a:r>
          </a:p>
        </p:txBody>
      </p:sp>
      <p:pic>
        <p:nvPicPr>
          <p:cNvPr id="19" name="Picture 18" descr="reje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900" y="4233672"/>
            <a:ext cx="3383280" cy="457200"/>
          </a:xfrm>
          <a:prstGeom prst="rect">
            <a:avLst/>
          </a:prstGeom>
        </p:spPr>
      </p:pic>
      <p:pic>
        <p:nvPicPr>
          <p:cNvPr id="20" name="Picture 19" descr="degenera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79" y="4855464"/>
            <a:ext cx="461772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C365C"/>
                </a:solidFill>
                <a:latin typeface="Microsoft YaHei"/>
              </a:rPr>
              <a:t>实验设置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27432"/>
          </a:xfrm>
          <a:prstGeom prst="rect">
            <a:avLst/>
          </a:prstGeom>
          <a:solidFill>
            <a:srgbClr val="248BC2"/>
          </a:solidFill>
          <a:ln>
            <a:solidFill>
              <a:srgbClr val="248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5F5F"/>
                </a:solidFill>
                <a:latin typeface="Microsoft YaHei"/>
              </a:rPr>
              <a:t>M3DGR Corridor02 走廊退化场景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4937760" cy="388620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4663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D2D2D"/>
                </a:solidFill>
                <a:latin typeface="Consolas"/>
              </a:rPr>
              <a:t>数据集与场景</a:t>
            </a:r>
            <a:br/>
            <a:br/>
            <a:r>
              <a:rPr sz="1700" b="0">
                <a:solidFill>
                  <a:srgbClr val="2D2D2D"/>
                </a:solidFill>
                <a:latin typeface="Consolas"/>
              </a:rPr>
              <a:t>M3DGR Corridor02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Livox Mid360 + IMU</a:t>
            </a:r>
            <a:br/>
            <a:br/>
            <a:r>
              <a:rPr sz="1700" b="0">
                <a:solidFill>
                  <a:srgbClr val="2D2D2D"/>
                </a:solidFill>
                <a:latin typeface="Consolas"/>
              </a:rPr>
              <a:t>退化特点: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- 长走廊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- 重复结构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- 主几何约束方向单一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- 适合验证退化感知地图更新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4937760" cy="3886200"/>
          </a:xfrm>
          <a:prstGeom prst="rect">
            <a:avLst/>
          </a:prstGeom>
          <a:noFill/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435607"/>
            <a:ext cx="4663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D2D2D"/>
                </a:solidFill>
                <a:latin typeface="Consolas"/>
              </a:rPr>
              <a:t>对比组与观察内容</a:t>
            </a:r>
            <a:br/>
            <a:br/>
            <a:r>
              <a:rPr sz="1700" b="0">
                <a:solidFill>
                  <a:srgbClr val="2D2D2D"/>
                </a:solidFill>
                <a:latin typeface="Consolas"/>
              </a:rPr>
              <a:t>1. FAST-LIO2 官方版本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2. Adaptive FAST-LIO2, adaptive_map 开启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3. Adaptive FAST-LIO2, adaptive_map 关闭</a:t>
            </a:r>
            <a:br/>
            <a:br/>
            <a:r>
              <a:rPr sz="1700" b="0">
                <a:solidFill>
                  <a:srgbClr val="2D2D2D"/>
                </a:solidFill>
                <a:latin typeface="Consolas"/>
              </a:rPr>
              <a:t>观察重点:</a:t>
            </a:r>
            <a:br/>
            <a:r>
              <a:rPr sz="1700" b="0">
                <a:solidFill>
                  <a:srgbClr val="2D2D2D"/>
                </a:solidFill>
                <a:latin typeface="Consolas"/>
              </a:rPr>
              <a:t>地图主体结构、边界清晰度、局部散点噪声。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C365C"/>
                </a:solidFill>
                <a:latin typeface="Microsoft YaHei"/>
              </a:rPr>
              <a:t>实验结果对比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27432"/>
          </a:xfrm>
          <a:prstGeom prst="rect">
            <a:avLst/>
          </a:prstGeom>
          <a:solidFill>
            <a:srgbClr val="248BC2"/>
          </a:solidFill>
          <a:ln>
            <a:solidFill>
              <a:srgbClr val="248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5F5F"/>
                </a:solidFill>
                <a:latin typeface="Microsoft YaHei"/>
              </a:rPr>
              <a:t>三种方法均恢复走廊主体结构，adaptive_map 开启后局部散点有所收敛</a:t>
            </a:r>
          </a:p>
        </p:txBody>
      </p:sp>
      <p:pic>
        <p:nvPicPr>
          <p:cNvPr id="5" name="Picture 4" descr="fast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71600"/>
            <a:ext cx="3611880" cy="4069080"/>
          </a:xfrm>
          <a:prstGeom prst="rect">
            <a:avLst/>
          </a:prstGeom>
        </p:spPr>
      </p:pic>
      <p:pic>
        <p:nvPicPr>
          <p:cNvPr id="6" name="Picture 5" descr="adaptive_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371600"/>
            <a:ext cx="3611880" cy="4069080"/>
          </a:xfrm>
          <a:prstGeom prst="rect">
            <a:avLst/>
          </a:prstGeom>
        </p:spPr>
      </p:pic>
      <p:pic>
        <p:nvPicPr>
          <p:cNvPr id="7" name="Picture 6" descr="adaptive_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371600"/>
            <a:ext cx="3611880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5559552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C365C"/>
                </a:solidFill>
                <a:latin typeface="Microsoft YaHei"/>
              </a:rPr>
              <a:t>FAST-LIO2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8536" y="5559552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C365C"/>
                </a:solidFill>
                <a:latin typeface="Microsoft YaHei"/>
              </a:rPr>
              <a:t>Adaptive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5559552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C365C"/>
                </a:solidFill>
                <a:latin typeface="Microsoft YaHei"/>
              </a:rPr>
              <a:t>Adaptive 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C365C"/>
                </a:solidFill>
                <a:latin typeface="Microsoft YaHei"/>
              </a:rPr>
              <a:t>结果分析与结论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55680" cy="27432"/>
          </a:xfrm>
          <a:prstGeom prst="rect">
            <a:avLst/>
          </a:prstGeom>
          <a:solidFill>
            <a:srgbClr val="248BC2"/>
          </a:solidFill>
          <a:ln>
            <a:solidFill>
              <a:srgbClr val="248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5F5F"/>
                </a:solidFill>
                <a:latin typeface="Microsoft YaHei"/>
              </a:rPr>
              <a:t>该模块在不破坏主体结构的前提下，对低质量点累积具有抑制作用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Adaptive OFF 与官方 FAST-LIO2 地图形态接近，说明复现系统在关闭 adaptive_map 后基本保持原始入图行为。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Adaptive ON 保持了 Corridor02 的矩形走廊主体结构，说明质量筛选没有造成明显过度删点或地图断裂。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与 Adaptive OFF 相比，Adaptive ON 的局部散点和低质量累积有所减少，符合退化感知地图更新的设计目标。</a:t>
            </a: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262626"/>
                </a:solidFill>
                <a:latin typeface="Microsoft YaHei"/>
              </a:rPr>
              <a:t>下一步建议加入定量指标：入图点数量、拒绝点比例、平均残差、有效匹配点比例、运行时间，以及有真值时的 ATE/RPE。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